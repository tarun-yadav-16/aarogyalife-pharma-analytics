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6d6b5b3b1446bc" /><Relationship Type="http://schemas.openxmlformats.org/officeDocument/2006/relationships/extended-properties" Target="/docProps/app.xml" Id="R411cb274543a4052" /><Relationship Type="http://schemas.openxmlformats.org/officeDocument/2006/relationships/officeDocument" Target="/ppt/presentation.xml" Id="Rb65d3248ff314d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8d1ddcba3d46d6"/>
  </p:sldMasterIdLst>
  <p:notesMasterIdLst>
    <p:notesMasterId xmlns:r="http://schemas.openxmlformats.org/officeDocument/2006/relationships" r:id="R4028574de2f24c84"/>
  </p:notesMasterIdLst>
  <p:sldIdLst>
    <p:sldId xmlns:r="http://schemas.openxmlformats.org/officeDocument/2006/relationships" id="256" r:id="R08a101586d6c4bc2"/>
    <p:sldId xmlns:r="http://schemas.openxmlformats.org/officeDocument/2006/relationships" id="257" r:id="R023c5b6ba47b41b8"/>
    <p:sldId xmlns:r="http://schemas.openxmlformats.org/officeDocument/2006/relationships" id="258" r:id="R238edf35acb64f13"/>
    <p:sldId xmlns:r="http://schemas.openxmlformats.org/officeDocument/2006/relationships" id="259" r:id="R9f58275fdb3c4f7b"/>
    <p:sldId xmlns:r="http://schemas.openxmlformats.org/officeDocument/2006/relationships" id="260" r:id="Rbe59bbeb1977492b"/>
    <p:sldId xmlns:r="http://schemas.openxmlformats.org/officeDocument/2006/relationships" id="261" r:id="Rcb0ffb100ade4409"/>
    <p:sldId xmlns:r="http://schemas.openxmlformats.org/officeDocument/2006/relationships" id="262" r:id="R9229f58e42994a76"/>
    <p:sldId xmlns:r="http://schemas.openxmlformats.org/officeDocument/2006/relationships" id="263" r:id="Re1b96c5ee3304442"/>
    <p:sldId xmlns:r="http://schemas.openxmlformats.org/officeDocument/2006/relationships" id="264" r:id="Rf4222c09606740c0"/>
    <p:sldId xmlns:r="http://schemas.openxmlformats.org/officeDocument/2006/relationships" id="265" r:id="R6b3b9305e7654c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3c603c9f924539" /><Relationship Type="http://schemas.openxmlformats.org/officeDocument/2006/relationships/slideMaster" Target="/ppt/slideMasters/slideMaster1.xml" Id="Rde8d1ddcba3d46d6" /><Relationship Type="http://schemas.openxmlformats.org/officeDocument/2006/relationships/notesMaster" Target="/ppt/notesMasters/notesMaster1.xml" Id="R4028574de2f24c84" /><Relationship Type="http://schemas.openxmlformats.org/officeDocument/2006/relationships/presProps" Target="/ppt/presProps.xml" Id="R6acb40a3ce474225" /><Relationship Type="http://schemas.openxmlformats.org/officeDocument/2006/relationships/tableStyles" Target="/ppt/tableStyles.xml" Id="R56e75f79e85743c3" /><Relationship Type="http://schemas.openxmlformats.org/officeDocument/2006/relationships/slide" Target="/ppt/slides/slide1.xml" Id="R08a101586d6c4bc2" /><Relationship Type="http://schemas.openxmlformats.org/officeDocument/2006/relationships/slide" Target="/ppt/slides/slide2.xml" Id="R023c5b6ba47b41b8" /><Relationship Type="http://schemas.openxmlformats.org/officeDocument/2006/relationships/slide" Target="/ppt/slides/slide3.xml" Id="R238edf35acb64f13" /><Relationship Type="http://schemas.openxmlformats.org/officeDocument/2006/relationships/slide" Target="/ppt/slides/slide4.xml" Id="R9f58275fdb3c4f7b" /><Relationship Type="http://schemas.openxmlformats.org/officeDocument/2006/relationships/slide" Target="/ppt/slides/slide5.xml" Id="Rbe59bbeb1977492b" /><Relationship Type="http://schemas.openxmlformats.org/officeDocument/2006/relationships/slide" Target="/ppt/slides/slide6.xml" Id="Rcb0ffb100ade4409" /><Relationship Type="http://schemas.openxmlformats.org/officeDocument/2006/relationships/slide" Target="/ppt/slides/slide7.xml" Id="R9229f58e42994a76" /><Relationship Type="http://schemas.openxmlformats.org/officeDocument/2006/relationships/slide" Target="/ppt/slides/slide8.xml" Id="Re1b96c5ee3304442" /><Relationship Type="http://schemas.openxmlformats.org/officeDocument/2006/relationships/slide" Target="/ppt/slides/slide9.xml" Id="Rf4222c09606740c0" /><Relationship Type="http://schemas.openxmlformats.org/officeDocument/2006/relationships/slide" Target="/ppt/slides/slide10.xml" Id="R6b3b9305e7654c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932dbced4348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85725" dir="5400000">
              <a:srgbClr val="102F46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b95700829144fc" /><Relationship Type="http://schemas.openxmlformats.org/officeDocument/2006/relationships/notesMaster" Target="/ppt/notesMasters/notesMaster1.xml" Id="R74ada62c24be4e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aa3031f5d24d5b" /><Relationship Type="http://schemas.openxmlformats.org/officeDocument/2006/relationships/notesMaster" Target="/ppt/notesMasters/notesMaster1.xml" Id="R4ba41e0c243142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900119bccc4d8d" /><Relationship Type="http://schemas.openxmlformats.org/officeDocument/2006/relationships/notesMaster" Target="/ppt/notesMasters/notesMaster1.xml" Id="R50930a97aa9843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8b97ad012f4f82" /><Relationship Type="http://schemas.openxmlformats.org/officeDocument/2006/relationships/notesMaster" Target="/ppt/notesMasters/notesMaster1.xml" Id="Radb3e8c3f3924a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68343bd1d04c83" /><Relationship Type="http://schemas.openxmlformats.org/officeDocument/2006/relationships/notesMaster" Target="/ppt/notesMasters/notesMaster1.xml" Id="Rc62401d2139047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02a988a63c45e6" /><Relationship Type="http://schemas.openxmlformats.org/officeDocument/2006/relationships/notesMaster" Target="/ppt/notesMasters/notesMaster1.xml" Id="R2a71c826146349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f7ad53e6c04e5a" /><Relationship Type="http://schemas.openxmlformats.org/officeDocument/2006/relationships/notesMaster" Target="/ppt/notesMasters/notesMaster1.xml" Id="R687e78b17e834d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1a851041da4153" /><Relationship Type="http://schemas.openxmlformats.org/officeDocument/2006/relationships/notesMaster" Target="/ppt/notesMasters/notesMaster1.xml" Id="Rcce34375b25249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7256afdd694605" /><Relationship Type="http://schemas.openxmlformats.org/officeDocument/2006/relationships/notesMaster" Target="/ppt/notesMasters/notesMaster1.xml" Id="R93fbc44e1d674d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93f92beb4d4347" /><Relationship Type="http://schemas.openxmlformats.org/officeDocument/2006/relationships/notesMaster" Target="/ppt/notesMasters/notesMaster1.xml" Id="Rf1799ff1c69b4f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acbfc1fcd640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9049a095474e0e" /><Relationship Type="http://schemas.openxmlformats.org/officeDocument/2006/relationships/slideLayout" Target="/ppt/slideLayouts/slideLayout1.xml" Id="R0d40c8b74c6046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40c8b74c6046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85725" dir="5400000">
              <a:srgbClr val="102F46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113a39d71410c" /><Relationship Type="http://schemas.openxmlformats.org/officeDocument/2006/relationships/image" Target="/ppt/media/image.png" Id="R2b8ac1003198416e" /><Relationship Type="http://schemas.openxmlformats.org/officeDocument/2006/relationships/notesSlide" Target="/ppt/notesSlides/notesSlide1.xml" Id="Rf90ee5cebe0e47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ccc85c9f64ae2" /><Relationship Type="http://schemas.openxmlformats.org/officeDocument/2006/relationships/notesSlide" Target="/ppt/notesSlides/notesSlide2.xml" Id="Ra262b3a103b64f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d7041dcab4353" /><Relationship Type="http://schemas.openxmlformats.org/officeDocument/2006/relationships/notesSlide" Target="/ppt/notesSlides/notesSlide3.xml" Id="Ra417642b34214b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1f3fadf354379" /><Relationship Type="http://schemas.openxmlformats.org/officeDocument/2006/relationships/notesSlide" Target="/ppt/notesSlides/notesSlide4.xml" Id="R33c087a3cc2849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44fd972404e90" /><Relationship Type="http://schemas.openxmlformats.org/officeDocument/2006/relationships/image" Target="/ppt/media/image2.png" Id="Rc1bdd5b4fb8941b7" /><Relationship Type="http://schemas.openxmlformats.org/officeDocument/2006/relationships/notesSlide" Target="/ppt/notesSlides/notesSlide5.xml" Id="Redcc3043506547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994382e0e4525" /><Relationship Type="http://schemas.openxmlformats.org/officeDocument/2006/relationships/image" Target="/ppt/media/image3.png" Id="Rb7ca12f339034319" /><Relationship Type="http://schemas.openxmlformats.org/officeDocument/2006/relationships/notesSlide" Target="/ppt/notesSlides/notesSlide6.xml" Id="Ra4ea81b15b3144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88060e9f14543" /><Relationship Type="http://schemas.openxmlformats.org/officeDocument/2006/relationships/image" Target="/ppt/media/image4.png" Id="Rd958a14b068c48b8" /><Relationship Type="http://schemas.openxmlformats.org/officeDocument/2006/relationships/notesSlide" Target="/ppt/notesSlides/notesSlide7.xml" Id="Rf67f84475d6849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435c82c384e08" /><Relationship Type="http://schemas.openxmlformats.org/officeDocument/2006/relationships/image" Target="/ppt/media/image5.png" Id="R0fa43832f6bc4064" /><Relationship Type="http://schemas.openxmlformats.org/officeDocument/2006/relationships/notesSlide" Target="/ppt/notesSlides/notesSlide8.xml" Id="R3cf652f83b1a40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af8a374674e06" /><Relationship Type="http://schemas.openxmlformats.org/officeDocument/2006/relationships/notesSlide" Target="/ppt/notesSlides/notesSlide9.xml" Id="Raf9c689e80e54c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8e46c2daa415f" /><Relationship Type="http://schemas.openxmlformats.org/officeDocument/2006/relationships/notesSlide" Target="/ppt/notesSlides/notesSlide10.xml" Id="R5e3da61dc0ac4c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EB92D-4E37-4DC3-8ECD-7FB20F00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B"/>
          </a:solidFill>
          <a:ln xmlns:a="http://schemas.openxmlformats.org/drawingml/2006/main" w="0">
            <a:solidFill>
              <a:srgbClr val="087F7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FC1FF-678B-4F4C-B3CD-DA2C07D6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23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DCD9"/>
                </a:solidFill>
              </a:defRPr>
            </a:pPr>
            <a:r>
              <a:rPr sz="975" b="1">
                <a:solidFill>
                  <a:srgbClr val="A8DCD9"/>
                </a:solidFill>
              </a:rPr>
              <a:t>DATA ANALYTICS CASE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A79B0-2B15-486B-807D-CA2A1E94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519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Pharmaceutical growth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without hidden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48659-B676-4752-A015-43F44F80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DCD9"/>
                </a:solidFill>
              </a:defRPr>
            </a:pPr>
            <a:r>
              <a:rPr sz="1875" b="1">
                <a:solidFill>
                  <a:srgbClr val="A8DCD9"/>
                </a:solidFill>
              </a:rPr>
              <a:t>AarogyaLife Pharmaceuticals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F2FD8-C1B4-48AA-9C0E-FEC0AD53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5757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A commercial, inventory, collections and safety-monitoring solution built with Python, MySQL and Power BI.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439B7-1C76-44A6-94AF-A3A6BB73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DCD9"/>
                </a:solidFill>
              </a:defRPr>
            </a:pPr>
            <a:r>
              <a:rPr sz="1200" b="1">
                <a:solidFill>
                  <a:srgbClr val="A8DCD9"/>
                </a:solidFill>
              </a:rPr>
              <a:t>Tarun Yadav  •  Data Analyst Portfolio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6B456-9F17-4C59-939E-9BE55493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558" y="1619250"/>
            <a:ext cx="5808133" cy="3267075"/>
          </a:xfrm>
          <a:prstGeom xmlns:a="http://schemas.openxmlformats.org/drawingml/2006/main" prst="roundRect">
            <a:avLst>
              <a:gd name="adj" fmla="val 34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ac1003198416e"/>
          <a:stretch xmlns:a="http://schemas.openxmlformats.org/drawingml/2006/main"/>
        </p:blipFill>
        <p:spPr>
          <a:xfrm xmlns:a="http://schemas.openxmlformats.org/drawingml/2006/main">
            <a:off x="5906558" y="1619250"/>
            <a:ext cx="5808133" cy="3267075"/>
          </a:xfrm>
          <a:prstGeom xmlns:a="http://schemas.openxmlformats.org/drawingml/2006/main" prst="roundRect">
            <a:avLst>
              <a:gd name="adj" fmla="val 3499"/>
            </a:avLst>
          </a:prstGeom>
        </p:spPr>
      </p:pic>
    </p:spTree>
    <p:extLst>
      <p:ext uri="{BB962C8B-B14F-4D97-AF65-F5344CB8AC3E}">
        <p14:creationId xmlns:p14="http://schemas.microsoft.com/office/powerpoint/2010/main" val="201388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42CF9B-928C-48DB-A2C9-5111C2AF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6"/>
          </a:solidFill>
          <a:ln xmlns:a="http://schemas.openxmlformats.org/drawingml/2006/main" w="0">
            <a:solidFill>
              <a:srgbClr val="102F4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D2A80-B5E4-4BCE-B0EF-CD9295FD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AAROGYALIFE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6ACB0-CDD1-4CF9-8277-ACBA2E43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52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DCD9"/>
                </a:solidFill>
              </a:defRPr>
            </a:pPr>
            <a:r>
              <a:rPr sz="825" b="0">
                <a:solidFill>
                  <a:srgbClr val="A8DCD9"/>
                </a:solidFill>
              </a:rPr>
              <a:t>PHARMACEUTICALS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28863-3BC8-49EB-A95E-65E6B3AA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238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DCD9"/>
                </a:solidFill>
              </a:defRPr>
            </a:pPr>
            <a:r>
              <a:rPr sz="1125" b="1">
                <a:solidFill>
                  <a:srgbClr val="A8DCD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F2B25-1D6E-4CFB-9448-E88E33CE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7B"/>
                </a:solidFill>
              </a:defRPr>
            </a:pPr>
            <a:r>
              <a:rPr sz="900" b="1">
                <a:solidFill>
                  <a:srgbClr val="087F7B"/>
                </a:solidFill>
              </a:rPr>
              <a:t>THE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368B9-2DE6-4D3B-8A4D-75FB3B5F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6202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3F"/>
                </a:solidFill>
              </a:defRPr>
            </a:pPr>
            <a:r>
              <a:rPr sz="2850" b="1">
                <a:solidFill>
                  <a:srgbClr val="18323F"/>
                </a:solidFill>
              </a:rPr>
              <a:t>Revenue growth alone could not explain business health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03D16-A017-4013-83BF-F8E3F894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573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86"/>
                </a:solidFill>
              </a:defRPr>
            </a:pPr>
            <a:r>
              <a:rPr sz="1275" b="0">
                <a:solidFill>
                  <a:srgbClr val="6B7C86"/>
                </a:solidFill>
              </a:rPr>
              <a:t>Leadership needed one view across profitability, availability, collections and reporting workload.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96D7E-C63A-4914-8285-0ABA07C6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2571750" cy="3143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BD1BE-C27F-4188-8722-53AC7A5A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B"/>
          </a:solidFill>
          <a:ln xmlns:a="http://schemas.openxmlformats.org/drawingml/2006/main" w="0">
            <a:solidFill>
              <a:srgbClr val="087F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80873-8CE1-4B75-93FE-9749B158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F7B"/>
                </a:solidFill>
              </a:defRPr>
            </a:pPr>
            <a:r>
              <a:rPr sz="1950" b="1">
                <a:solidFill>
                  <a:srgbClr val="087F7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CD9C1-8E24-49CD-B5D4-7D17AAFC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23F"/>
                </a:solidFill>
              </a:defRPr>
            </a:pPr>
            <a:r>
              <a:rPr sz="1800" b="1">
                <a:solidFill>
                  <a:srgbClr val="18323F"/>
                </a:solidFill>
              </a:rPr>
              <a:t>Commercial blind spots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5E4F5-6527-4561-A70B-96C481D8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2047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86"/>
                </a:solidFill>
              </a:defRPr>
            </a:pPr>
            <a:r>
              <a:rPr sz="1275" b="0">
                <a:solidFill>
                  <a:srgbClr val="6B7C86"/>
                </a:solidFill>
              </a:rPr>
              <a:t>Which regions, therapies, products and channels were growing profitably?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514E2-6084-465D-992C-0843D9F9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38375"/>
            <a:ext cx="2571750" cy="3143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49519-6824-4997-88C9-D0211CF5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3837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45"/>
          </a:solidFill>
          <a:ln xmlns:a="http://schemas.openxmlformats.org/drawingml/2006/main" w="0">
            <a:solidFill>
              <a:srgbClr val="F39C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3043-47D9-4454-88FD-B006D68C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9C45"/>
                </a:solidFill>
              </a:defRPr>
            </a:pPr>
            <a:r>
              <a:rPr sz="1950" b="1">
                <a:solidFill>
                  <a:srgbClr val="F39C45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379B3-4958-40EC-AB15-10AFF4F1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0375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23F"/>
                </a:solidFill>
              </a:defRPr>
            </a:pPr>
            <a:r>
              <a:rPr sz="1800" b="1">
                <a:solidFill>
                  <a:srgbClr val="18323F"/>
                </a:solidFill>
              </a:rPr>
              <a:t>Availability pressure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BC5CB-E2CC-47B4-8ED5-6BFBD5AC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2047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86"/>
                </a:solidFill>
              </a:defRPr>
            </a:pPr>
            <a:r>
              <a:rPr sz="1275" b="0">
                <a:solidFill>
                  <a:srgbClr val="6B7C86"/>
                </a:solidFill>
              </a:rPr>
              <a:t>Were stock-outs and damaged stock limiting high-demand products?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24602-FBD4-4FFD-8824-5EF1426F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2571750" cy="3143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E2A42-025D-467E-A4DC-F750FAAF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44F"/>
          </a:solidFill>
          <a:ln xmlns:a="http://schemas.openxmlformats.org/drawingml/2006/main" w="0">
            <a:solidFill>
              <a:srgbClr val="D854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3191C-F8B8-4F79-9C82-2ADFE749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8544F"/>
                </a:solidFill>
              </a:defRPr>
            </a:pPr>
            <a:r>
              <a:rPr sz="1950" b="1">
                <a:solidFill>
                  <a:srgbClr val="D8544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71E6E-5F6A-487B-B516-5DD66EB0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0375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23F"/>
                </a:solidFill>
              </a:defRPr>
            </a:pPr>
            <a:r>
              <a:rPr sz="1800" b="1">
                <a:solidFill>
                  <a:srgbClr val="18323F"/>
                </a:solidFill>
              </a:rPr>
              <a:t>Cash collection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608467-D506-4470-A598-2ABCE747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0000"/>
            <a:ext cx="2047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86"/>
                </a:solidFill>
              </a:defRPr>
            </a:pPr>
            <a:r>
              <a:rPr sz="1275" b="0">
                <a:solidFill>
                  <a:srgbClr val="6B7C86"/>
                </a:solidFill>
              </a:rPr>
              <a:t>Which channels and distributors were paying beyond agreed terms?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85447-80DE-4564-B3F4-FB3C6B9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2571750" cy="3143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B7816E-FC97-474B-AFC4-58F7FBEF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5B8CBB-808C-4F32-B277-215F32C8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AAFA9"/>
                </a:solidFill>
              </a:defRPr>
            </a:pPr>
            <a:r>
              <a:rPr sz="1950" b="1">
                <a:solidFill>
                  <a:srgbClr val="3AAFA9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62370F-76C0-434B-AF52-7AB441D7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00375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23F"/>
                </a:solidFill>
              </a:defRPr>
            </a:pPr>
            <a:r>
              <a:rPr sz="1800" b="1">
                <a:solidFill>
                  <a:srgbClr val="18323F"/>
                </a:solidFill>
              </a:rPr>
              <a:t>Safety workload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099C77-45D4-4421-8A24-EB79CAD0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10000"/>
            <a:ext cx="2047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86"/>
                </a:solidFill>
              </a:defRPr>
            </a:pPr>
            <a:r>
              <a:rPr sz="1275" b="0">
                <a:solidFill>
                  <a:srgbClr val="6B7C86"/>
                </a:solidFill>
              </a:rPr>
              <a:t>Which reports required faster operational review and follow-up?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24C1BC-DA1C-48F5-A7CC-C9BA6636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34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7B"/>
                </a:solidFill>
              </a:defRPr>
            </a:pPr>
            <a:r>
              <a:rPr sz="1050" b="1">
                <a:solidFill>
                  <a:srgbClr val="087F7B"/>
                </a:solidFill>
              </a:rPr>
              <a:t>Business question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9F7B9F-6060-4ADF-851F-B1DA3411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388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3F"/>
                </a:solidFill>
              </a:defRPr>
            </a:pPr>
            <a:r>
              <a:rPr sz="1650" b="1">
                <a:solidFill>
                  <a:srgbClr val="18323F"/>
                </a:solidFill>
              </a:rPr>
              <a:t>Where can the company grow without increasing returns, payment delays, stock-outs or unresolved safety-reporting workload?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B7677C-BA61-4760-AB4A-0F5686BD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C86"/>
                </a:solidFill>
              </a:defRPr>
            </a:pPr>
            <a:r>
              <a:rPr sz="750" b="0">
                <a:solidFill>
                  <a:srgbClr val="6B7C86"/>
                </a:solidFill>
              </a:rPr>
              <a:t>Synthetic portfolio case study • Python + MySQL + Power BI</a:t>
            </a:r>
          </a:p>
        </p:txBody>
      </p:sp>
    </p:spTree>
    <p:extLst>
      <p:ext uri="{BB962C8B-B14F-4D97-AF65-F5344CB8AC3E}">
        <p14:creationId xmlns:p14="http://schemas.microsoft.com/office/powerpoint/2010/main" val="20381430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854C1C-FAA2-4819-9F37-3E5B97BE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6"/>
          </a:solidFill>
          <a:ln xmlns:a="http://schemas.openxmlformats.org/drawingml/2006/main" w="0">
            <a:solidFill>
              <a:srgbClr val="102F4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0B5D2-5AA1-44C5-8B87-D15DA943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AAROGYALIFE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44C35-8878-4ACC-A41F-C7C11F21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52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DCD9"/>
                </a:solidFill>
              </a:defRPr>
            </a:pPr>
            <a:r>
              <a:rPr sz="825" b="0">
                <a:solidFill>
                  <a:srgbClr val="A8DCD9"/>
                </a:solidFill>
              </a:rPr>
              <a:t>PHARMACEUTICALS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C5D34-2EEE-46CD-B209-DE4FF24B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238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DCD9"/>
                </a:solidFill>
              </a:defRPr>
            </a:pPr>
            <a:r>
              <a:rPr sz="1125" b="1">
                <a:solidFill>
                  <a:srgbClr val="A8DCD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F2FDD-3110-472F-B2E2-D53067F4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7B"/>
                </a:solidFill>
              </a:defRPr>
            </a:pPr>
            <a:r>
              <a:rPr sz="900" b="1">
                <a:solidFill>
                  <a:srgbClr val="087F7B"/>
                </a:solidFill>
              </a:rPr>
              <a:t>DATA 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74E5A-E8AF-4F72-AE4C-76E3A06F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6202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3F"/>
                </a:solidFill>
              </a:defRPr>
            </a:pPr>
            <a:r>
              <a:rPr sz="2850" b="1">
                <a:solidFill>
                  <a:srgbClr val="18323F"/>
                </a:solidFill>
              </a:rPr>
              <a:t>Six linked tables created a single analytical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502C1-2D63-403E-95E9-42697CE2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573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86"/>
                </a:solidFill>
              </a:defRPr>
            </a:pPr>
            <a:r>
              <a:rPr sz="1275" b="0">
                <a:solidFill>
                  <a:srgbClr val="6B7C86"/>
                </a:solidFill>
              </a:rPr>
              <a:t>Synthetic records covered January 2024 through December 2025.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20CD6-B4F9-44C2-BA08-ECEFA358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87F7B"/>
                </a:solidFill>
              </a:defRPr>
            </a:pPr>
            <a:r>
              <a:rPr sz="4050" b="1">
                <a:solidFill>
                  <a:srgbClr val="087F7B"/>
                </a:solidFill>
              </a:rPr>
              <a:t>13,210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10B01-6FC5-4270-9732-CC22697C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86"/>
                </a:solidFill>
              </a:defRPr>
            </a:pPr>
            <a:r>
              <a:rPr sz="1275" b="0">
                <a:solidFill>
                  <a:srgbClr val="6B7C86"/>
                </a:solidFill>
              </a:rPr>
              <a:t>total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D544E-D834-4F61-8DF4-5A40A669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39C45"/>
                </a:solidFill>
              </a:defRPr>
            </a:pPr>
            <a:r>
              <a:rPr sz="4050" b="1">
                <a:solidFill>
                  <a:srgbClr val="F39C45"/>
                </a:solidFill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DF2E0-E58A-46A5-A60A-DD6E5814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86"/>
                </a:solidFill>
              </a:defRPr>
            </a:pPr>
            <a:r>
              <a:rPr sz="1275" b="0">
                <a:solidFill>
                  <a:srgbClr val="6B7C86"/>
                </a:solidFill>
              </a:rPr>
              <a:t>relational tables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C21A4-796D-4C84-B0D7-BEE650E5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291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3F"/>
                </a:solidFill>
              </a:defRPr>
            </a:pPr>
            <a:r>
              <a:rPr sz="3600" b="1">
                <a:solidFill>
                  <a:srgbClr val="18323F"/>
                </a:solidFill>
              </a:rPr>
              <a:t>2 years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DEFC4-6162-4D82-815D-9B36D0F6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86"/>
                </a:solidFill>
              </a:defRPr>
            </a:pPr>
            <a:r>
              <a:rPr sz="1275" b="0">
                <a:solidFill>
                  <a:srgbClr val="6B7C86"/>
                </a:solidFill>
              </a:rPr>
              <a:t>commercial and operational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78FDA-30CD-4CC5-BF9B-16F07269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19300"/>
            <a:ext cx="34766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5DA0E-7C46-4A21-BEC0-ADDF6001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621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23F"/>
                </a:solidFill>
              </a:defRPr>
            </a:pPr>
            <a:r>
              <a:rPr sz="1575" b="1">
                <a:solidFill>
                  <a:srgbClr val="18323F"/>
                </a:solidFill>
              </a:rPr>
              <a:t>Fact Sales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B4491-E275-438A-A41B-6ECC0FAD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14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C86"/>
                </a:solidFill>
              </a:defRPr>
            </a:pPr>
            <a:r>
              <a:rPr sz="1125" b="0">
                <a:solidFill>
                  <a:srgbClr val="6B7C86"/>
                </a:solidFill>
              </a:rPr>
              <a:t>7,500 invoice lines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E33FA-BCFC-4EAF-BDB7-22258C04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19300"/>
            <a:ext cx="34766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94A43-3BF5-4525-9230-63C31758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1621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23F"/>
                </a:solidFill>
              </a:defRPr>
            </a:pPr>
            <a:r>
              <a:rPr sz="1575" b="1">
                <a:solidFill>
                  <a:srgbClr val="18323F"/>
                </a:solidFill>
              </a:rPr>
              <a:t>Fact Inventory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BA53D-7F84-4532-98B1-F47C223B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14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C86"/>
                </a:solidFill>
              </a:defRPr>
            </a:pPr>
            <a:r>
              <a:rPr sz="1125" b="0">
                <a:solidFill>
                  <a:srgbClr val="6B7C86"/>
                </a:solidFill>
              </a:rPr>
              <a:t>5,184 warehouse snapshots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3AB9F-FD83-4E8D-A2A4-64BA4D87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9925"/>
            <a:ext cx="34766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118FF4-AE3D-457E-B77E-5282F39D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528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23F"/>
                </a:solidFill>
              </a:defRPr>
            </a:pPr>
            <a:r>
              <a:rPr sz="1575" b="1">
                <a:solidFill>
                  <a:srgbClr val="18323F"/>
                </a:solidFill>
              </a:rPr>
              <a:t>Adverse Events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F331C8-EF0D-4A51-B0F7-25165A05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05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C86"/>
                </a:solidFill>
              </a:defRPr>
            </a:pPr>
            <a:r>
              <a:rPr sz="1125" b="0">
                <a:solidFill>
                  <a:srgbClr val="6B7C86"/>
                </a:solidFill>
              </a:rPr>
              <a:t>420 anonymized reports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BDE1FA-9375-42A2-800D-7648286A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09925"/>
            <a:ext cx="34766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4069BD-5EE7-4319-9633-83FE4228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528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23F"/>
                </a:solidFill>
              </a:defRPr>
            </a:pPr>
            <a:r>
              <a:rPr sz="1575" b="1">
                <a:solidFill>
                  <a:srgbClr val="18323F"/>
                </a:solidFill>
              </a:rPr>
              <a:t>Product Dimension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5D5C0A-7EE3-4102-8388-70BD1C50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705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C86"/>
                </a:solidFill>
              </a:defRPr>
            </a:pPr>
            <a:r>
              <a:rPr sz="1125" b="0">
                <a:solidFill>
                  <a:srgbClr val="6B7C86"/>
                </a:solidFill>
              </a:rPr>
              <a:t>36 products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DB2625-B949-495F-B05D-06A841FE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00550"/>
            <a:ext cx="34766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C2382-EEE4-40A4-A425-86A356C3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434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23F"/>
                </a:solidFill>
              </a:defRPr>
            </a:pPr>
            <a:r>
              <a:rPr sz="1575" b="1">
                <a:solidFill>
                  <a:srgbClr val="18323F"/>
                </a:solidFill>
              </a:rPr>
              <a:t>Distributor Dimension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0E32FD-8F3F-4D77-99B0-F4EAC2DE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95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C86"/>
                </a:solidFill>
              </a:defRPr>
            </a:pPr>
            <a:r>
              <a:rPr sz="1125" b="0">
                <a:solidFill>
                  <a:srgbClr val="6B7C86"/>
                </a:solidFill>
              </a:rPr>
              <a:t>60 distributors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1FEF8E-A462-4227-95F6-412B393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00550"/>
            <a:ext cx="34766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54D2E2-4DB3-4CB8-911C-AFFF4E7F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5434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23F"/>
                </a:solidFill>
              </a:defRPr>
            </a:pPr>
            <a:r>
              <a:rPr sz="1575" b="1">
                <a:solidFill>
                  <a:srgbClr val="18323F"/>
                </a:solidFill>
              </a:rPr>
              <a:t>Targets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8476B8-9242-4A76-93A0-8C3E5ACF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895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C86"/>
                </a:solidFill>
              </a:defRPr>
            </a:pPr>
            <a:r>
              <a:rPr sz="1125" b="0">
                <a:solidFill>
                  <a:srgbClr val="6B7C86"/>
                </a:solidFill>
              </a:rPr>
              <a:t>10 year-region targets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599FA2-3E2E-4BBD-97CB-928D84C4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C86"/>
                </a:solidFill>
              </a:defRPr>
            </a:pPr>
            <a:r>
              <a:rPr sz="750" b="0">
                <a:solidFill>
                  <a:srgbClr val="6B7C86"/>
                </a:solidFill>
              </a:rPr>
              <a:t>Synthetic data • No personally identifiable patient information</a:t>
            </a:r>
          </a:p>
        </p:txBody>
      </p:sp>
    </p:spTree>
    <p:extLst>
      <p:ext uri="{BB962C8B-B14F-4D97-AF65-F5344CB8AC3E}">
        <p14:creationId xmlns:p14="http://schemas.microsoft.com/office/powerpoint/2010/main" val="7670463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604F1C-02D5-4B85-9A7F-9FF2B061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6"/>
          </a:solidFill>
          <a:ln xmlns:a="http://schemas.openxmlformats.org/drawingml/2006/main" w="0">
            <a:solidFill>
              <a:srgbClr val="102F4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B9273-7C21-4371-ABCE-6D695F50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AAROGYALIFE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0C666-C563-42C9-8EB4-9A0D8887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52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DCD9"/>
                </a:solidFill>
              </a:defRPr>
            </a:pPr>
            <a:r>
              <a:rPr sz="825" b="0">
                <a:solidFill>
                  <a:srgbClr val="A8DCD9"/>
                </a:solidFill>
              </a:rPr>
              <a:t>PHARMACEUTICALS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7F273-D8FF-4599-9CCC-55DBB4DC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238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DCD9"/>
                </a:solidFill>
              </a:defRPr>
            </a:pPr>
            <a:r>
              <a:rPr sz="1125" b="1">
                <a:solidFill>
                  <a:srgbClr val="A8DCD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5C23D-C87E-41AB-BB77-E02F268F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7B"/>
                </a:solidFill>
              </a:defRPr>
            </a:pPr>
            <a:r>
              <a:rPr sz="900" b="1">
                <a:solidFill>
                  <a:srgbClr val="087F7B"/>
                </a:solidFill>
              </a:rPr>
              <a:t>APPROACH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247E0-9122-4917-9CA9-13AEEBFD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6202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3F"/>
                </a:solidFill>
              </a:defRPr>
            </a:pPr>
            <a:r>
              <a:rPr sz="2850" b="1">
                <a:solidFill>
                  <a:srgbClr val="18323F"/>
                </a:solidFill>
              </a:rPr>
              <a:t>The analysis moved from raw tables to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C28F7-F6DC-485D-B495-9B8EC899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573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86"/>
                </a:solidFill>
              </a:defRPr>
            </a:pPr>
            <a:r>
              <a:rPr sz="1275" b="0">
                <a:solidFill>
                  <a:srgbClr val="6B7C86"/>
                </a:solidFill>
              </a:rPr>
              <a:t>A reproducible workflow connected Python preparation, MySQL analysis and Power BI reporting.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8CA3E-22CB-4952-A1E7-5EEEA863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2047875" cy="304800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D5F62-A827-476D-8913-71BA9C17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7F7B"/>
                </a:solidFill>
              </a:defRPr>
            </a:pPr>
            <a:r>
              <a:rPr sz="3000" b="1">
                <a:solidFill>
                  <a:srgbClr val="087F7B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B92AD-D839-4AA6-9258-758E5918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3F"/>
                </a:solidFill>
              </a:defRPr>
            </a:pPr>
            <a:r>
              <a:rPr sz="1875" b="1">
                <a:solidFill>
                  <a:srgbClr val="18323F"/>
                </a:solidFill>
              </a:rPr>
              <a:t>Prepare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C9B7C-0278-4189-84FB-8E72B22D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6"/>
                </a:solidFill>
              </a:defRPr>
            </a:pPr>
            <a:r>
              <a:rPr sz="1200" b="0">
                <a:solidFill>
                  <a:srgbClr val="6B7C86"/>
                </a:solidFill>
              </a:rPr>
              <a:t>Used Python and pandas to profile, clean and validate the CSV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E7B82-8E05-4C2A-87B7-A1B69444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337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F7B"/>
                </a:solidFill>
              </a:defRPr>
            </a:pPr>
            <a:r>
              <a:rPr sz="2250" b="1">
                <a:solidFill>
                  <a:srgbClr val="087F7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342667-A720-4C4A-B10D-B3C281F1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38375"/>
            <a:ext cx="2047875" cy="304800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0C22C-B2B8-47CA-8AE0-EC2298BF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288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AAFA9"/>
                </a:solidFill>
              </a:defRPr>
            </a:pPr>
            <a:r>
              <a:rPr sz="3000" b="1">
                <a:solidFill>
                  <a:srgbClr val="3AAFA9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4D3F4-A562-4BC4-B8AF-566D8EAE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43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3F"/>
                </a:solidFill>
              </a:defRPr>
            </a:pPr>
            <a:r>
              <a:rPr sz="1875" b="1">
                <a:solidFill>
                  <a:srgbClr val="18323F"/>
                </a:solidFill>
              </a:rPr>
              <a:t>Store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30BAC-6BF1-47C0-BBAC-65577672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6"/>
                </a:solidFill>
              </a:defRPr>
            </a:pPr>
            <a:r>
              <a:rPr sz="1200" b="0">
                <a:solidFill>
                  <a:srgbClr val="6B7C86"/>
                </a:solidFill>
              </a:rPr>
              <a:t>Created normalized MySQL tables with primary and foreign keys.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FFE87-14D1-4C4A-A6EF-CAF8B236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337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F7B"/>
                </a:solidFill>
              </a:defRPr>
            </a:pPr>
            <a:r>
              <a:rPr sz="2250" b="1">
                <a:solidFill>
                  <a:srgbClr val="087F7B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0EF18-FD47-4F28-AB83-4256D965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2047875" cy="304800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A6FF3-C09E-433A-9C43-B31A8789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288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39C45"/>
                </a:solidFill>
              </a:defRPr>
            </a:pPr>
            <a:r>
              <a:rPr sz="3000" b="1">
                <a:solidFill>
                  <a:srgbClr val="F39C45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D75837-16E3-4CC4-8A86-69FF15AE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43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3F"/>
                </a:solidFill>
              </a:defRPr>
            </a:pPr>
            <a:r>
              <a:rPr sz="1875" b="1">
                <a:solidFill>
                  <a:srgbClr val="18323F"/>
                </a:solidFill>
              </a:rPr>
              <a:t>Analyse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40635-E300-45B3-8A37-F5665519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3380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6"/>
                </a:solidFill>
              </a:defRPr>
            </a:pPr>
            <a:r>
              <a:rPr sz="1200" b="0">
                <a:solidFill>
                  <a:srgbClr val="6B7C86"/>
                </a:solidFill>
              </a:rPr>
              <a:t>Used joins, CTEs, CASE, subqueries, LAG and DENSE_RANK.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E1D680-93F7-46DB-9BA7-923B5A90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F7B"/>
                </a:solidFill>
              </a:defRPr>
            </a:pPr>
            <a:r>
              <a:rPr sz="2250" b="1">
                <a:solidFill>
                  <a:srgbClr val="087F7B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C4BDE-9106-4BBB-B254-0417F99C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38375"/>
            <a:ext cx="2047875" cy="304800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BC0E6F-737F-48E3-A5DA-E6008EF2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288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A9D78"/>
                </a:solidFill>
              </a:defRPr>
            </a:pPr>
            <a:r>
              <a:rPr sz="3000" b="1">
                <a:solidFill>
                  <a:srgbClr val="3A9D78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0FFFD0-E6AC-43AF-B770-B221ABF9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3F"/>
                </a:solidFill>
              </a:defRPr>
            </a:pPr>
            <a:r>
              <a:rPr sz="1875" b="1">
                <a:solidFill>
                  <a:srgbClr val="18323F"/>
                </a:solidFill>
              </a:rPr>
              <a:t>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15DCC4-4048-4088-A73D-2F5DDD16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3380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6"/>
                </a:solidFill>
              </a:defRPr>
            </a:pPr>
            <a:r>
              <a:rPr sz="1200" b="0">
                <a:solidFill>
                  <a:srgbClr val="6B7C86"/>
                </a:solidFill>
              </a:rPr>
              <a:t>Built a star schema, Date table and reusable DAX measures.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92FF08-8F59-41D7-963E-34C2B64E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F7B"/>
                </a:solidFill>
              </a:defRPr>
            </a:pPr>
            <a:r>
              <a:rPr sz="2250" b="1">
                <a:solidFill>
                  <a:srgbClr val="087F7B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7ED512-0B6D-4263-8C27-3A4BD9AB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38375"/>
            <a:ext cx="2047875" cy="304800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1A65CA-739F-4CA7-B0A6-ADFF05DD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288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8544F"/>
                </a:solidFill>
              </a:defRPr>
            </a:pPr>
            <a:r>
              <a:rPr sz="3000" b="1">
                <a:solidFill>
                  <a:srgbClr val="D8544F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DB767A-07C5-4DB4-B7C6-A40BF73B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43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3F"/>
                </a:solidFill>
              </a:defRPr>
            </a:pPr>
            <a:r>
              <a:rPr sz="1875" b="1">
                <a:solidFill>
                  <a:srgbClr val="18323F"/>
                </a:solidFill>
              </a:rPr>
              <a:t>Decide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3F238E-161E-439D-8669-C3B9AD3D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3380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6"/>
                </a:solidFill>
              </a:defRPr>
            </a:pPr>
            <a:r>
              <a:rPr sz="1200" b="0">
                <a:solidFill>
                  <a:srgbClr val="6B7C86"/>
                </a:solidFill>
              </a:rPr>
              <a:t>Translated results into commercial and operational actions.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E55470-A264-4D3E-8968-C814AFBD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67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7B"/>
                </a:solidFill>
              </a:defRPr>
            </a:pPr>
            <a:r>
              <a:rPr sz="1050" b="1">
                <a:solidFill>
                  <a:srgbClr val="087F7B"/>
                </a:solidFill>
              </a:rPr>
              <a:t>Outcome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931D54-3F4E-4992-AC2C-A637704A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626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23F"/>
                </a:solidFill>
              </a:defRPr>
            </a:pPr>
            <a:r>
              <a:rPr sz="1725" b="1">
                <a:solidFill>
                  <a:srgbClr val="18323F"/>
                </a:solidFill>
              </a:rPr>
              <a:t>One four-page Power BI solution for executives, commercial teams, supply chain and safety operations.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C611B8-614C-41FE-AC9B-0E3893E0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C86"/>
                </a:solidFill>
              </a:defRPr>
            </a:pPr>
            <a:r>
              <a:rPr sz="750" b="0">
                <a:solidFill>
                  <a:srgbClr val="6B7C86"/>
                </a:solidFill>
              </a:rPr>
              <a:t>Synthetic portfolio case study • Python + MySQL + Power BI</a:t>
            </a:r>
          </a:p>
        </p:txBody>
      </p:sp>
    </p:spTree>
    <p:extLst>
      <p:ext uri="{BB962C8B-B14F-4D97-AF65-F5344CB8AC3E}">
        <p14:creationId xmlns:p14="http://schemas.microsoft.com/office/powerpoint/2010/main" val="10236922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A211B-DA02-416C-8102-1150867F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6"/>
          </a:solidFill>
          <a:ln xmlns:a="http://schemas.openxmlformats.org/drawingml/2006/main" w="0">
            <a:solidFill>
              <a:srgbClr val="102F4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0E533-AE34-40C7-ADE7-C5007CB0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AAROGYALIFE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8723C-7AC4-4345-9396-E438FCEA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52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DCD9"/>
                </a:solidFill>
              </a:defRPr>
            </a:pPr>
            <a:r>
              <a:rPr sz="825" b="0">
                <a:solidFill>
                  <a:srgbClr val="A8DCD9"/>
                </a:solidFill>
              </a:rPr>
              <a:t>PHARMACEUTICALS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F3861-9DB5-447B-B23F-6BE9518B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238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DCD9"/>
                </a:solidFill>
              </a:defRPr>
            </a:pPr>
            <a:r>
              <a:rPr sz="1125" b="1">
                <a:solidFill>
                  <a:srgbClr val="A8DCD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A6527-7E62-4C9B-BA03-7160EC0D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7B"/>
                </a:solidFill>
              </a:defRPr>
            </a:pPr>
            <a:r>
              <a:rPr sz="900" b="1">
                <a:solidFill>
                  <a:srgbClr val="087F7B"/>
                </a:solidFill>
              </a:rPr>
              <a:t>EXECUTIVE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274FA-3ECD-40B2-A26A-3EB7FA3C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6202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3F"/>
                </a:solidFill>
              </a:defRPr>
            </a:pPr>
            <a:r>
              <a:rPr sz="2850" b="1">
                <a:solidFill>
                  <a:srgbClr val="18323F"/>
                </a:solidFill>
              </a:rPr>
              <a:t>The business was profitable—but growth and collections needed attention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1ADF1-D160-4D56-A6A2-09BF0151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12131"/>
            <a:ext cx="7239000" cy="4071938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dd5b4fb8941b7"/>
          <a:stretch xmlns:a="http://schemas.openxmlformats.org/drawingml/2006/main"/>
        </p:blipFill>
        <p:spPr>
          <a:xfrm xmlns:a="http://schemas.openxmlformats.org/drawingml/2006/main">
            <a:off x="476250" y="1812131"/>
            <a:ext cx="7239000" cy="4071938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E82EA-8CA5-4592-96BB-2EA77D7E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7B"/>
                </a:solidFill>
              </a:defRPr>
            </a:pPr>
            <a:r>
              <a:rPr sz="2925" b="1">
                <a:solidFill>
                  <a:srgbClr val="087F7B"/>
                </a:solidFill>
              </a:rPr>
              <a:t>₹23.40 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7EE08-EDD8-48EB-B49A-38CF7113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860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6"/>
                </a:solidFill>
              </a:defRPr>
            </a:pPr>
            <a:r>
              <a:rPr sz="1200" b="0">
                <a:solidFill>
                  <a:srgbClr val="6B7C86"/>
                </a:solidFill>
              </a:rPr>
              <a:t>net sales across 2024–2025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4E8A7-C985-4F6D-8895-F3D7845A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A9D78"/>
                </a:solidFill>
              </a:defRPr>
            </a:pPr>
            <a:r>
              <a:rPr sz="2925" b="1">
                <a:solidFill>
                  <a:srgbClr val="3A9D78"/>
                </a:solidFill>
              </a:rPr>
              <a:t>44.77%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47E2F-B7D1-44BE-A921-64917AF3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6"/>
                </a:solidFill>
              </a:defRPr>
            </a:pPr>
            <a:r>
              <a:rPr sz="1200" b="0">
                <a:solidFill>
                  <a:srgbClr val="6B7C86"/>
                </a:solidFill>
              </a:rPr>
              <a:t>gross margin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3B1AC-A049-4EC7-8418-86893391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433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39C45"/>
                </a:solidFill>
              </a:defRPr>
            </a:pPr>
            <a:r>
              <a:rPr sz="2925" b="1">
                <a:solidFill>
                  <a:srgbClr val="F39C45"/>
                </a:solidFill>
              </a:rPr>
              <a:t>+2.62%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D23E0-7F4F-4F53-9114-01E6A72D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767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6"/>
                </a:solidFill>
              </a:defRPr>
            </a:pPr>
            <a:r>
              <a:rPr sz="1200" b="0">
                <a:solidFill>
                  <a:srgbClr val="6B7C86"/>
                </a:solidFill>
              </a:rPr>
              <a:t>2025 year-over-year sales growth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E1187-94CA-4467-A1D1-23844CE9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D8544F"/>
                </a:solidFill>
              </a:defRPr>
            </a:pPr>
            <a:r>
              <a:rPr sz="2925" b="1">
                <a:solidFill>
                  <a:srgbClr val="D8544F"/>
                </a:solidFill>
              </a:rPr>
              <a:t>71.74%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F8148-51FE-457E-A216-2091A49F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721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6"/>
                </a:solidFill>
              </a:defRPr>
            </a:pPr>
            <a:r>
              <a:rPr sz="1200" b="0">
                <a:solidFill>
                  <a:srgbClr val="6B7C86"/>
                </a:solidFill>
              </a:rPr>
              <a:t>on-time payments vs 80% 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1CCC8-C21F-4C5E-AB02-EFF80D3B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C86"/>
                </a:solidFill>
              </a:defRPr>
            </a:pPr>
            <a:r>
              <a:rPr sz="750" b="0">
                <a:solidFill>
                  <a:srgbClr val="6B7C86"/>
                </a:solidFill>
              </a:rPr>
              <a:t>Synthetic portfolio case study • Python + MySQL + Power BI</a:t>
            </a:r>
          </a:p>
        </p:txBody>
      </p:sp>
    </p:spTree>
    <p:extLst>
      <p:ext uri="{BB962C8B-B14F-4D97-AF65-F5344CB8AC3E}">
        <p14:creationId xmlns:p14="http://schemas.microsoft.com/office/powerpoint/2010/main" val="132488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607B4A-B980-4069-A2BE-9E3CECB0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6"/>
          </a:solidFill>
          <a:ln xmlns:a="http://schemas.openxmlformats.org/drawingml/2006/main" w="0">
            <a:solidFill>
              <a:srgbClr val="102F4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F705A-E4B5-4C87-B35B-3D252A13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AAROGYALIFE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E03C7-626F-4601-8925-55FA9C6D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52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DCD9"/>
                </a:solidFill>
              </a:defRPr>
            </a:pPr>
            <a:r>
              <a:rPr sz="825" b="0">
                <a:solidFill>
                  <a:srgbClr val="A8DCD9"/>
                </a:solidFill>
              </a:rPr>
              <a:t>PHARMACEUTICALS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A243E-8FE2-4FA4-979B-A39875A6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238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DCD9"/>
                </a:solidFill>
              </a:defRPr>
            </a:pPr>
            <a:r>
              <a:rPr sz="1125" b="1">
                <a:solidFill>
                  <a:srgbClr val="A8DCD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BED84-91D7-41C2-B517-A8E3153F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7B"/>
                </a:solidFill>
              </a:defRPr>
            </a:pPr>
            <a:r>
              <a:rPr sz="900" b="1">
                <a:solidFill>
                  <a:srgbClr val="087F7B"/>
                </a:solidFill>
              </a:rPr>
              <a:t>COMMERCIAL PERFORMANCE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8362A-D76E-4A76-B221-2B3C18A8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6202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3F"/>
                </a:solidFill>
              </a:defRPr>
            </a:pPr>
            <a:r>
              <a:rPr sz="2850" b="1">
                <a:solidFill>
                  <a:srgbClr val="18323F"/>
                </a:solidFill>
              </a:rPr>
              <a:t>Respiratory products led growth while collections varied by channel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4F813-F291-4A95-B405-69E2C6C3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125" y="1790700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a12f339034319"/>
          <a:stretch xmlns:a="http://schemas.openxmlformats.org/drawingml/2006/main"/>
        </p:blipFill>
        <p:spPr>
          <a:xfrm xmlns:a="http://schemas.openxmlformats.org/drawingml/2006/main">
            <a:off x="4556125" y="1790700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39EFA-C8F9-4FB3-941A-716B48F0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B"/>
          </a:solidFill>
          <a:ln xmlns:a="http://schemas.openxmlformats.org/drawingml/2006/main" w="0">
            <a:solidFill>
              <a:srgbClr val="087F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CB7A0-1AB3-40F9-A6AA-1C6C6E37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7B"/>
                </a:solidFill>
              </a:defRPr>
            </a:pPr>
            <a:r>
              <a:rPr sz="2550" b="1">
                <a:solidFill>
                  <a:srgbClr val="087F7B"/>
                </a:solidFill>
              </a:rPr>
              <a:t>₹8.86 Cr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C3101-E999-4ABD-A78E-6C7BBD2D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6"/>
                </a:solidFill>
              </a:defRPr>
            </a:pPr>
            <a:r>
              <a:rPr sz="1200" b="0">
                <a:solidFill>
                  <a:srgbClr val="6B7C86"/>
                </a:solidFill>
              </a:rPr>
              <a:t>Respiratory therapy sales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AC2F8-B31A-40B3-ABFF-A9FC21D5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9087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D78"/>
          </a:solidFill>
          <a:ln xmlns:a="http://schemas.openxmlformats.org/drawingml/2006/main" w="0">
            <a:solidFill>
              <a:srgbClr val="3A9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E8A6B-A227-4447-A287-1D1DAC37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A9D78"/>
                </a:solidFill>
              </a:defRPr>
            </a:pPr>
            <a:r>
              <a:rPr sz="2550" b="1">
                <a:solidFill>
                  <a:srgbClr val="3A9D78"/>
                </a:solidFill>
              </a:rPr>
              <a:t>₹2.20 Cr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2BCFB-0333-422E-8A07-A128361A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6"/>
                </a:solidFill>
              </a:defRPr>
            </a:pPr>
            <a:r>
              <a:rPr sz="1200" b="0">
                <a:solidFill>
                  <a:srgbClr val="6B7C86"/>
                </a:solidFill>
              </a:rPr>
              <a:t>VitalSalbu 12 — top product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0EFF6D-32BE-4072-937E-73193F64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45"/>
          </a:solidFill>
          <a:ln xmlns:a="http://schemas.openxmlformats.org/drawingml/2006/main" w="0">
            <a:solidFill>
              <a:srgbClr val="F39C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0313C-99B4-4F2A-B102-0251649A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9C45"/>
                </a:solidFill>
              </a:defRPr>
            </a:pPr>
            <a:r>
              <a:rPr sz="2550" b="1">
                <a:solidFill>
                  <a:srgbClr val="F39C45"/>
                </a:solidFill>
              </a:rPr>
              <a:t>45.4 days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40716-86BD-4464-8DD6-38DDC0AF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6"/>
                </a:solidFill>
              </a:defRPr>
            </a:pPr>
            <a:r>
              <a:rPr sz="1200" b="0">
                <a:solidFill>
                  <a:srgbClr val="6B7C86"/>
                </a:solidFill>
              </a:rPr>
              <a:t>Government Tender average payment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6E887-BC0D-4FB2-AB8D-0E123748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57875"/>
            <a:ext cx="104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7B"/>
                </a:solidFill>
              </a:defRPr>
            </a:pPr>
            <a:r>
              <a:rPr sz="1050" b="1">
                <a:solidFill>
                  <a:srgbClr val="087F7B"/>
                </a:solidFill>
              </a:rPr>
              <a:t>Implication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7E378A-21F2-4AFB-8289-53E946E3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43575"/>
            <a:ext cx="9810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3F"/>
                </a:solidFill>
              </a:defRPr>
            </a:pPr>
            <a:r>
              <a:rPr sz="1650" b="1">
                <a:solidFill>
                  <a:srgbClr val="18323F"/>
                </a:solidFill>
              </a:rPr>
              <a:t>Protect respiratory availability and tighten collection controls on slow-paying channels.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C2A12-8264-4597-A743-EE254A87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C86"/>
                </a:solidFill>
              </a:defRPr>
            </a:pPr>
            <a:r>
              <a:rPr sz="750" b="0">
                <a:solidFill>
                  <a:srgbClr val="6B7C86"/>
                </a:solidFill>
              </a:rPr>
              <a:t>Synthetic portfolio case study • Python + MySQL + Power BI</a:t>
            </a:r>
          </a:p>
        </p:txBody>
      </p:sp>
    </p:spTree>
    <p:extLst>
      <p:ext uri="{BB962C8B-B14F-4D97-AF65-F5344CB8AC3E}">
        <p14:creationId xmlns:p14="http://schemas.microsoft.com/office/powerpoint/2010/main" val="725457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F4055-72A0-4535-8AA2-8422F86E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6"/>
          </a:solidFill>
          <a:ln xmlns:a="http://schemas.openxmlformats.org/drawingml/2006/main" w="0">
            <a:solidFill>
              <a:srgbClr val="102F4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9261A-8B28-4E93-A270-57EE6FEE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AAROGYALIFE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93AD4-9C20-4E6A-ADDB-921F93C0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52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DCD9"/>
                </a:solidFill>
              </a:defRPr>
            </a:pPr>
            <a:r>
              <a:rPr sz="825" b="0">
                <a:solidFill>
                  <a:srgbClr val="A8DCD9"/>
                </a:solidFill>
              </a:rPr>
              <a:t>PHARMACEUTICALS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76A29-F683-4D8C-A403-A145FE43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238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DCD9"/>
                </a:solidFill>
              </a:defRPr>
            </a:pPr>
            <a:r>
              <a:rPr sz="1125" b="1">
                <a:solidFill>
                  <a:srgbClr val="A8DCD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8650E-1210-4DE1-9C98-A9822FBE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7B"/>
                </a:solidFill>
              </a:defRPr>
            </a:pPr>
            <a:r>
              <a:rPr sz="900" b="1">
                <a:solidFill>
                  <a:srgbClr val="087F7B"/>
                </a:solidFill>
              </a:rPr>
              <a:t>SUPPLY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D1776-BB89-4C58-A10D-C3B1D3B0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6202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3F"/>
                </a:solidFill>
              </a:defRPr>
            </a:pPr>
            <a:r>
              <a:rPr sz="2850" b="1">
                <a:solidFill>
                  <a:srgbClr val="18323F"/>
                </a:solidFill>
              </a:rPr>
              <a:t>Stock-out pressure was concentrated enough to prioritise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6E7B4-236D-4679-994B-D146984C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10048"/>
            <a:ext cx="7381875" cy="4152305"/>
          </a:xfrm>
          <a:prstGeom xmlns:a="http://schemas.openxmlformats.org/drawingml/2006/main" prst="roundRect">
            <a:avLst>
              <a:gd name="adj" fmla="val 27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8a14b068c48b8"/>
          <a:stretch xmlns:a="http://schemas.openxmlformats.org/drawingml/2006/main"/>
        </p:blipFill>
        <p:spPr>
          <a:xfrm xmlns:a="http://schemas.openxmlformats.org/drawingml/2006/main">
            <a:off x="4333875" y="1810048"/>
            <a:ext cx="7381875" cy="4152305"/>
          </a:xfrm>
          <a:prstGeom xmlns:a="http://schemas.openxmlformats.org/drawingml/2006/main" prst="roundRect">
            <a:avLst>
              <a:gd name="adj" fmla="val 275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AB1FF-9ADF-4192-9FCD-81557428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8544F"/>
                </a:solidFill>
              </a:defRPr>
            </a:pPr>
            <a:r>
              <a:rPr sz="3150" b="1">
                <a:solidFill>
                  <a:srgbClr val="D8544F"/>
                </a:solidFill>
              </a:rPr>
              <a:t>3,263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9835A-3F42-4AD5-952A-0AC5CB60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03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86"/>
                </a:solidFill>
              </a:defRPr>
            </a:pPr>
            <a:r>
              <a:rPr sz="1275" b="0">
                <a:solidFill>
                  <a:srgbClr val="6B7C86"/>
                </a:solidFill>
              </a:rPr>
              <a:t>total stock-out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0062E-6717-4457-9EF8-534637C4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9C45"/>
                </a:solidFill>
              </a:defRPr>
            </a:pPr>
            <a:r>
              <a:rPr sz="3150" b="1">
                <a:solidFill>
                  <a:srgbClr val="F39C45"/>
                </a:solidFill>
              </a:rPr>
              <a:t>683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740AE-956E-4B9B-B6F1-42A2E6B1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481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86"/>
                </a:solidFill>
              </a:defRPr>
            </a:pPr>
            <a:r>
              <a:rPr sz="1275" b="0">
                <a:solidFill>
                  <a:srgbClr val="6B7C86"/>
                </a:solidFill>
              </a:rPr>
              <a:t>Mumbai — highest warehouse burden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B04A6-02CF-49FE-8CA2-4713D581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196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7F7B"/>
                </a:solidFill>
              </a:defRPr>
            </a:pPr>
            <a:r>
              <a:rPr sz="3150" b="1">
                <a:solidFill>
                  <a:srgbClr val="087F7B"/>
                </a:solidFill>
              </a:rPr>
              <a:t>1,455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D8E8C-E161-43D2-B0DF-E10B6336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720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86"/>
                </a:solidFill>
              </a:defRPr>
            </a:pPr>
            <a:r>
              <a:rPr sz="1275" b="0">
                <a:solidFill>
                  <a:srgbClr val="6B7C86"/>
                </a:solidFill>
              </a:rPr>
              <a:t>records below reorder level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21D73-1803-41F9-B27D-1FC071C0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53100"/>
            <a:ext cx="76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7B"/>
                </a:solidFill>
              </a:defRPr>
            </a:pPr>
            <a:r>
              <a:rPr sz="1050" b="1">
                <a:solidFill>
                  <a:srgbClr val="087F7B"/>
                </a:solidFill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1827E-84AD-4A2B-88F2-C2711A6F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3880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23F"/>
                </a:solidFill>
              </a:defRPr>
            </a:pPr>
            <a:r>
              <a:rPr sz="1575" b="1">
                <a:solidFill>
                  <a:srgbClr val="18323F"/>
                </a:solidFill>
              </a:rPr>
              <a:t>Reallocate fast-moving inventory and review reorder points before increasing stock broadly.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2717E-5899-42AC-93FE-6D0E6C78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C86"/>
                </a:solidFill>
              </a:defRPr>
            </a:pPr>
            <a:r>
              <a:rPr sz="750" b="0">
                <a:solidFill>
                  <a:srgbClr val="6B7C86"/>
                </a:solidFill>
              </a:rPr>
              <a:t>Synthetic portfolio case study • Python + MySQL + Power BI</a:t>
            </a:r>
          </a:p>
        </p:txBody>
      </p:sp>
    </p:spTree>
    <p:extLst>
      <p:ext uri="{BB962C8B-B14F-4D97-AF65-F5344CB8AC3E}">
        <p14:creationId xmlns:p14="http://schemas.microsoft.com/office/powerpoint/2010/main" val="4643482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B1DC4-1E81-4749-A330-605B9120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6"/>
          </a:solidFill>
          <a:ln xmlns:a="http://schemas.openxmlformats.org/drawingml/2006/main" w="0">
            <a:solidFill>
              <a:srgbClr val="102F4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C015B-5E21-4685-9996-EE6BB611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AAROGYALIFE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1E094-5070-4AE3-800B-CA5A20EB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52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DCD9"/>
                </a:solidFill>
              </a:defRPr>
            </a:pPr>
            <a:r>
              <a:rPr sz="825" b="0">
                <a:solidFill>
                  <a:srgbClr val="A8DCD9"/>
                </a:solidFill>
              </a:rPr>
              <a:t>PHARMACEUTICALS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58180-CC27-4BEC-9FE9-FA623503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238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DCD9"/>
                </a:solidFill>
              </a:defRPr>
            </a:pPr>
            <a:r>
              <a:rPr sz="1125" b="1">
                <a:solidFill>
                  <a:srgbClr val="A8DCD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88601-23D4-4B5D-B93F-D54F6922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7B"/>
                </a:solidFill>
              </a:defRPr>
            </a:pPr>
            <a:r>
              <a:rPr sz="900" b="1">
                <a:solidFill>
                  <a:srgbClr val="087F7B"/>
                </a:solidFill>
              </a:rPr>
              <a:t>SAFETY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B68A4-DC61-4583-8B77-EE157AFE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6202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3F"/>
                </a:solidFill>
              </a:defRPr>
            </a:pPr>
            <a:r>
              <a:rPr sz="2850" b="1">
                <a:solidFill>
                  <a:srgbClr val="18323F"/>
                </a:solidFill>
              </a:rPr>
              <a:t>Reporting workload required faster prioritisation—not clinical conclusions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4A5CC-C857-4EA1-A05E-7EB409A4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10048"/>
            <a:ext cx="7381875" cy="4152305"/>
          </a:xfrm>
          <a:prstGeom xmlns:a="http://schemas.openxmlformats.org/drawingml/2006/main" prst="roundRect">
            <a:avLst>
              <a:gd name="adj" fmla="val 27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43832f6bc4064"/>
          <a:stretch xmlns:a="http://schemas.openxmlformats.org/drawingml/2006/main"/>
        </p:blipFill>
        <p:spPr>
          <a:xfrm xmlns:a="http://schemas.openxmlformats.org/drawingml/2006/main">
            <a:off x="476250" y="1810048"/>
            <a:ext cx="7381875" cy="4152305"/>
          </a:xfrm>
          <a:prstGeom xmlns:a="http://schemas.openxmlformats.org/drawingml/2006/main" prst="roundRect">
            <a:avLst>
              <a:gd name="adj" fmla="val 275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87893-FC42-489B-B14D-79F2B15E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7B"/>
                </a:solidFill>
              </a:defRPr>
            </a:pPr>
            <a:r>
              <a:rPr sz="2325" b="1">
                <a:solidFill>
                  <a:srgbClr val="087F7B"/>
                </a:solidFill>
              </a:rPr>
              <a:t>420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79748-8F6C-482F-889E-A464B5D6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622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6"/>
                </a:solidFill>
              </a:defRPr>
            </a:pPr>
            <a:r>
              <a:rPr sz="1200" b="0">
                <a:solidFill>
                  <a:srgbClr val="6B7C86"/>
                </a:solidFill>
              </a:rPr>
              <a:t>total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D31B1-A7FA-4939-93A9-6895E035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956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8544F"/>
                </a:solidFill>
              </a:defRPr>
            </a:pPr>
            <a:r>
              <a:rPr sz="2325" b="1">
                <a:solidFill>
                  <a:srgbClr val="D8544F"/>
                </a:solidFill>
              </a:rPr>
              <a:t>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99860-4029-43F2-9BB4-3C95A72D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051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6"/>
                </a:solidFill>
              </a:defRPr>
            </a:pPr>
            <a:r>
              <a:rPr sz="1200" b="0">
                <a:solidFill>
                  <a:srgbClr val="6B7C86"/>
                </a:solidFill>
              </a:rPr>
              <a:t>serious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F7C0C-88C3-43CB-839A-FA624340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385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9C45"/>
                </a:solidFill>
              </a:defRPr>
            </a:pPr>
            <a:r>
              <a:rPr sz="2325" b="1">
                <a:solidFill>
                  <a:srgbClr val="F39C45"/>
                </a:solidFill>
              </a:rPr>
              <a:t>96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AEAF9-022C-4DB4-BCC2-109CB0D3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4815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6"/>
                </a:solidFill>
              </a:defRPr>
            </a:pPr>
            <a:r>
              <a:rPr sz="1200" b="0">
                <a:solidFill>
                  <a:srgbClr val="6B7C86"/>
                </a:solidFill>
              </a:rPr>
              <a:t>under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855A6-1F51-4007-AD74-C17B8A39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815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9C45"/>
                </a:solidFill>
              </a:defRPr>
            </a:pPr>
            <a:r>
              <a:rPr sz="2325" b="1">
                <a:solidFill>
                  <a:srgbClr val="F39C45"/>
                </a:solidFill>
              </a:rPr>
              <a:t>18.9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AB314-656A-4458-80FC-EC478667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9112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C86"/>
                </a:solidFill>
              </a:defRPr>
            </a:pPr>
            <a:r>
              <a:rPr sz="1200" b="0">
                <a:solidFill>
                  <a:srgbClr val="6B7C86"/>
                </a:solidFill>
              </a:rPr>
              <a:t>average delay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53083-A39A-4EB1-86A0-BF14F94A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62625"/>
            <a:ext cx="3286125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F4C9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EB9E0-9AAE-458C-AD3C-B785B67F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829300"/>
            <a:ext cx="3000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8544F"/>
                </a:solidFill>
              </a:defRPr>
            </a:pPr>
            <a:r>
              <a:rPr sz="1050" b="1">
                <a:solidFill>
                  <a:srgbClr val="D8544F"/>
                </a:solidFill>
              </a:rPr>
              <a:t>Reporting volume ≠ incidence or causality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237F5-C8FD-4354-BF43-F59DCA81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C86"/>
                </a:solidFill>
              </a:defRPr>
            </a:pPr>
            <a:r>
              <a:rPr sz="750" b="0">
                <a:solidFill>
                  <a:srgbClr val="6B7C86"/>
                </a:solidFill>
              </a:rPr>
              <a:t>Synthetic portfolio case study • Python + MySQL + Power BI</a:t>
            </a:r>
          </a:p>
        </p:txBody>
      </p:sp>
    </p:spTree>
    <p:extLst>
      <p:ext uri="{BB962C8B-B14F-4D97-AF65-F5344CB8AC3E}">
        <p14:creationId xmlns:p14="http://schemas.microsoft.com/office/powerpoint/2010/main" val="15355353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26C2A3-9D97-403F-8494-AA6BC174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6"/>
          </a:solidFill>
          <a:ln xmlns:a="http://schemas.openxmlformats.org/drawingml/2006/main" w="0">
            <a:solidFill>
              <a:srgbClr val="102F4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03CE1-9362-46B8-91A1-3FF5A4F0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AAROGYALIFE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EB4F7-3368-41C0-9DF6-DA5276FD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52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DCD9"/>
                </a:solidFill>
              </a:defRPr>
            </a:pPr>
            <a:r>
              <a:rPr sz="825" b="0">
                <a:solidFill>
                  <a:srgbClr val="A8DCD9"/>
                </a:solidFill>
              </a:rPr>
              <a:t>PHARMACEUTICALS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9183A-87D6-48B1-961C-37795F4C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238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DCD9"/>
                </a:solidFill>
              </a:defRPr>
            </a:pPr>
            <a:r>
              <a:rPr sz="1125" b="1">
                <a:solidFill>
                  <a:srgbClr val="A8DCD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A1232-A06A-4A1E-9AB7-EFEC57E6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7B"/>
                </a:solidFill>
              </a:defRPr>
            </a:pPr>
            <a:r>
              <a:rPr sz="900" b="1">
                <a:solidFill>
                  <a:srgbClr val="087F7B"/>
                </a:solidFill>
              </a:rPr>
              <a:t>RECOMMENDATIONS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F80BF-7B1F-4B19-B62C-F7B957B6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6202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323F"/>
                </a:solidFill>
              </a:defRPr>
            </a:pPr>
            <a:r>
              <a:rPr sz="2850" b="1">
                <a:solidFill>
                  <a:srgbClr val="18323F"/>
                </a:solidFill>
              </a:rPr>
              <a:t>Three focused actions convert the analysis into business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BC65C-22B4-42B8-A79B-5ED2E7E7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347662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A26B4-13C0-4D04-9EA4-0233AB05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666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45"/>
          </a:solidFill>
          <a:ln xmlns:a="http://schemas.openxmlformats.org/drawingml/2006/main" w="0">
            <a:solidFill>
              <a:srgbClr val="F39C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25433-4C0F-4662-A61A-C50CF4AF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9C45"/>
                </a:solidFill>
              </a:defRPr>
            </a:pPr>
            <a:r>
              <a:rPr sz="2325" b="1">
                <a:solidFill>
                  <a:srgbClr val="F39C4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11A2A-BBBF-4A08-9A37-C68E55FF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3F"/>
                </a:solidFill>
              </a:defRPr>
            </a:pPr>
            <a:r>
              <a:rPr sz="1875" b="1">
                <a:solidFill>
                  <a:srgbClr val="18323F"/>
                </a:solidFill>
              </a:rPr>
              <a:t>Strengthen collections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69228-D6A1-4C73-821E-B636404A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86"/>
                </a:solidFill>
              </a:defRPr>
            </a:pPr>
            <a:r>
              <a:rPr sz="1275" b="0">
                <a:solidFill>
                  <a:srgbClr val="6B7C86"/>
                </a:solidFill>
              </a:rPr>
              <a:t>Create channel and distributor payment scorecards; prioritise high-value overdue accounts.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9292F-7CA2-49DF-9C67-B7A25EA9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9C45"/>
                </a:solidFill>
              </a:defRPr>
            </a:pPr>
            <a:r>
              <a:rPr sz="900" b="1">
                <a:solidFill>
                  <a:srgbClr val="F39C45"/>
                </a:solidFill>
              </a:rPr>
              <a:t>EXPECTED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231D4-7B4F-45B6-8D58-E6D61971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23F"/>
                </a:solidFill>
              </a:defRPr>
            </a:pPr>
            <a:r>
              <a:rPr sz="1200" b="1">
                <a:solidFill>
                  <a:srgbClr val="18323F"/>
                </a:solidFill>
              </a:rPr>
              <a:t>Improved cash conversion and lower receivable risk.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3BC3E-AD91-4BDB-B215-83740DEF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47662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456F5-A97B-48A5-A37F-C1DD198B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666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B"/>
          </a:solidFill>
          <a:ln xmlns:a="http://schemas.openxmlformats.org/drawingml/2006/main" w="0">
            <a:solidFill>
              <a:srgbClr val="087F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2DD65-8C0B-47FD-BBEC-5541A390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241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7B"/>
                </a:solidFill>
              </a:defRPr>
            </a:pPr>
            <a:r>
              <a:rPr sz="2325" b="1">
                <a:solidFill>
                  <a:srgbClr val="087F7B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B4A7C-AB5B-4B55-BD3F-065215AD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575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3F"/>
                </a:solidFill>
              </a:defRPr>
            </a:pPr>
            <a:r>
              <a:rPr sz="1875" b="1">
                <a:solidFill>
                  <a:srgbClr val="18323F"/>
                </a:solidFill>
              </a:rPr>
              <a:t>Rebalance inventory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96E40-8FC9-47EC-9C85-F573080C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718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86"/>
                </a:solidFill>
              </a:defRPr>
            </a:pPr>
            <a:r>
              <a:rPr sz="1275" b="0">
                <a:solidFill>
                  <a:srgbClr val="6B7C86"/>
                </a:solidFill>
              </a:rPr>
              <a:t>Raise reorder points for fast-moving respiratory products and shift stock toward high-risk warehouses.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25832-3BF7-4ACA-8C27-54D8627B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72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7B"/>
                </a:solidFill>
              </a:defRPr>
            </a:pPr>
            <a:r>
              <a:rPr sz="900" b="1">
                <a:solidFill>
                  <a:srgbClr val="087F7B"/>
                </a:solidFill>
              </a:rPr>
              <a:t>EXPECTED OUTCOME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2D2C5-FB40-4B58-8C39-71D96A89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8768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23F"/>
                </a:solidFill>
              </a:defRPr>
            </a:pPr>
            <a:r>
              <a:rPr sz="1200" b="1">
                <a:solidFill>
                  <a:srgbClr val="18323F"/>
                </a:solidFill>
              </a:rPr>
              <a:t>Fewer lost-sales days without blanket inventory growth.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96E6F6-7C93-4206-AF84-667AFACE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47662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29C939-070A-456B-833A-FFB81798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666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44F"/>
          </a:solidFill>
          <a:ln xmlns:a="http://schemas.openxmlformats.org/drawingml/2006/main" w="0">
            <a:solidFill>
              <a:srgbClr val="D854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B4D08-6F5E-4120-BDA2-44CE4D4E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241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8544F"/>
                </a:solidFill>
              </a:defRPr>
            </a:pPr>
            <a:r>
              <a:rPr sz="2325" b="1">
                <a:solidFill>
                  <a:srgbClr val="D8544F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3E17CC-0EC8-46D0-85A8-BA9CAE30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575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3F"/>
                </a:solidFill>
              </a:defRPr>
            </a:pPr>
            <a:r>
              <a:rPr sz="1875" b="1">
                <a:solidFill>
                  <a:srgbClr val="18323F"/>
                </a:solidFill>
              </a:rPr>
              <a:t>Prioritise safety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851CF-F98F-4B37-AA48-E6349412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718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C86"/>
                </a:solidFill>
              </a:defRPr>
            </a:pPr>
            <a:r>
              <a:rPr sz="1275" b="0">
                <a:solidFill>
                  <a:srgbClr val="6B7C86"/>
                </a:solidFill>
              </a:rPr>
              <a:t>Route serious, delayed and under-review reports into a controlled operational queue.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91BD3D-BC54-4B22-B9CA-1DD303A0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544F"/>
                </a:solidFill>
              </a:defRPr>
            </a:pPr>
            <a:r>
              <a:rPr sz="900" b="1">
                <a:solidFill>
                  <a:srgbClr val="D8544F"/>
                </a:solidFill>
              </a:rPr>
              <a:t>EXPECTED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D29DF6-753A-46F3-ABEA-7A8A97D9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768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23F"/>
                </a:solidFill>
              </a:defRPr>
            </a:pPr>
            <a:r>
              <a:rPr sz="1200" b="1">
                <a:solidFill>
                  <a:srgbClr val="18323F"/>
                </a:solidFill>
              </a:rPr>
              <a:t>Faster follow-up while preserving medical-review boundaries.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81A9CC-C87F-4F26-90E7-0F607175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7B"/>
                </a:solidFill>
              </a:defRPr>
            </a:pPr>
            <a:r>
              <a:rPr sz="1050" b="1">
                <a:solidFill>
                  <a:srgbClr val="087F7B"/>
                </a:solidFill>
              </a:rPr>
              <a:t>Decision principle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E1245B-93D8-4085-A35A-928C197A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81675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23F"/>
                </a:solidFill>
              </a:defRPr>
            </a:pPr>
            <a:r>
              <a:rPr sz="1800" b="1">
                <a:solidFill>
                  <a:srgbClr val="18323F"/>
                </a:solidFill>
              </a:rPr>
              <a:t>Grow where margin, service level and collections remain healthy.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9738AA-8E60-4BDD-89B6-F6DD5813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C86"/>
                </a:solidFill>
              </a:defRPr>
            </a:pPr>
            <a:r>
              <a:rPr sz="750" b="0">
                <a:solidFill>
                  <a:srgbClr val="6B7C86"/>
                </a:solidFill>
              </a:rPr>
              <a:t>Synthetic portfolio case study • Python + MySQL + Power BI</a:t>
            </a:r>
          </a:p>
        </p:txBody>
      </p:sp>
    </p:spTree>
    <p:extLst>
      <p:ext uri="{BB962C8B-B14F-4D97-AF65-F5344CB8AC3E}">
        <p14:creationId xmlns:p14="http://schemas.microsoft.com/office/powerpoint/2010/main" val="2510903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F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C35888-58F9-4E52-8AE9-E492B3EA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DCD9"/>
                </a:solidFill>
              </a:defRPr>
            </a:pPr>
            <a:r>
              <a:rPr sz="975" b="1">
                <a:solidFill>
                  <a:srgbClr val="A8DCD9"/>
                </a:solidFill>
              </a:rPr>
              <a:t>PROJECT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6D742-A557-49A9-BF11-0DE05F42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628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One connected view.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Four business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D6D29-B1F0-4606-88C7-A75D67F2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666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E5EC"/>
                </a:solidFill>
              </a:defRPr>
            </a:pPr>
            <a:r>
              <a:rPr sz="1650" b="0">
                <a:solidFill>
                  <a:srgbClr val="D6E5EC"/>
                </a:solidFill>
              </a:rPr>
              <a:t>The project demonstrates how Python, MySQL and Power BI can turn disconnected pharmaceutical data into clear commercial, supply-chain and safety-operational priorities.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64265-1E43-448B-8F91-B9ACEFCE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AFA9"/>
                </a:solidFill>
              </a:defRPr>
            </a:pPr>
            <a:r>
              <a:rPr sz="1050" b="1">
                <a:solidFill>
                  <a:srgbClr val="3AAFA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D3D5F-4703-43FE-83B2-F7374054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Python &amp; pandas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CA7A0-7238-4A60-BB88-24A82FEC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815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AFA9"/>
                </a:solidFill>
              </a:defRPr>
            </a:pPr>
            <a:r>
              <a:rPr sz="1050" b="1">
                <a:solidFill>
                  <a:srgbClr val="3AAFA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D81BA-4E5B-4926-BC02-E3E780C4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815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Relational modelling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AF2C9-2D24-490F-903D-0E37642B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AFA9"/>
                </a:solidFill>
              </a:defRPr>
            </a:pPr>
            <a:r>
              <a:rPr sz="1050" b="1">
                <a:solidFill>
                  <a:srgbClr val="3AAFA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427D6-0C0F-474B-8E72-94DE8CD2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768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SQL joins &amp; CTEs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EB127-7C34-4543-9093-930D5BDE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720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AFA9"/>
                </a:solidFill>
              </a:defRPr>
            </a:pPr>
            <a:r>
              <a:rPr sz="1050" b="1">
                <a:solidFill>
                  <a:srgbClr val="3AAFA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BF801-3BAB-44B2-A671-F2DB26F3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720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Window functions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DE816-EC06-45DC-BAA6-590683FE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AFA9"/>
                </a:solidFill>
              </a:defRPr>
            </a:pPr>
            <a:r>
              <a:rPr sz="1050" b="1">
                <a:solidFill>
                  <a:srgbClr val="3AAFA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3358A-BD7A-495B-9D66-37D0D8C5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67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DAX measures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76A1D-39DC-4195-A21C-A296258F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AFA9"/>
                </a:solidFill>
              </a:defRPr>
            </a:pPr>
            <a:r>
              <a:rPr sz="1050" b="1">
                <a:solidFill>
                  <a:srgbClr val="3AAFA9"/>
                </a:solidFill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EBC30-7B05-4200-99EA-C1AF3A0A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626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Data storytelling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D115E-338A-40B0-97B3-65E82ED8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66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A8DCD9"/>
                </a:solidFill>
              </a:defRPr>
            </a:pPr>
            <a:r>
              <a:rPr sz="1350" b="1">
                <a:solidFill>
                  <a:srgbClr val="A8DCD9"/>
                </a:solidFill>
              </a:rPr>
              <a:t>Synthetic portfolio case study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3247A-62B5-416B-B665-2E80EE3D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13K+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81A06-8A90-445F-9296-99556F6B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8DCD9"/>
                </a:solidFill>
              </a:defRPr>
            </a:pPr>
            <a:r>
              <a:rPr sz="1200" b="0">
                <a:solidFill>
                  <a:srgbClr val="A8DCD9"/>
                </a:solidFill>
              </a:rPr>
              <a:t>records analysed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730EEB-B1A0-4884-A83C-B69CC565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76625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08954E-3FF0-4267-AA65-ECF64699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8DCD9"/>
                </a:solidFill>
              </a:defRPr>
            </a:pPr>
            <a:r>
              <a:rPr sz="1200" b="0">
                <a:solidFill>
                  <a:srgbClr val="A8DCD9"/>
                </a:solidFill>
              </a:rPr>
              <a:t>Power BI report pages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58C82-35F4-4014-BA83-D59CD87A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DCD9"/>
                </a:solidFill>
              </a:defRPr>
            </a:pPr>
            <a:r>
              <a:rPr sz="1200" b="1">
                <a:solidFill>
                  <a:srgbClr val="A8DCD9"/>
                </a:solidFill>
              </a:rPr>
              <a:t>Tarun Yadav  •  Data Analyst Portfolio</a:t>
            </a:r>
          </a:p>
        </p:txBody>
      </p:sp>
    </p:spTree>
    <p:extLst>
      <p:ext uri="{BB962C8B-B14F-4D97-AF65-F5344CB8AC3E}">
        <p14:creationId xmlns:p14="http://schemas.microsoft.com/office/powerpoint/2010/main" val="427087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85725" dir="5400000">
              <a:srgbClr val="102F46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2026-09-08T20:20:49.5840000Z</dcterms:created>
  <dcterms:modified xsi:type="dcterms:W3CDTF">2026-09-08T20:20:49.5840000Z</dcterms:modified>
</coreProperties>
</file>